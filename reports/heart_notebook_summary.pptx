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546C6973-6504-79EA-6E46-57BB20699625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target</c:v>
                </c:pt>
              </c:strCache>
            </c:strRef>
          </c:tx>
          <c:spPr>
            <a:solidFill>
              <a:srgbClr val="B3203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32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B6F-445B-8CAB-EE61A6312F0B}"/>
              </c:ext>
            </c:extLst>
          </c:dPt>
          <c:dPt>
            <c:idx val="1"/>
            <c:invertIfNegative val="0"/>
            <c:bubble3D val="0"/>
            <c:spPr>
              <a:solidFill>
                <a:srgbClr val="B32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6F-445B-8CAB-EE61A6312F0B}"/>
              </c:ext>
            </c:extLst>
          </c:dPt>
          <c:dPt>
            <c:idx val="2"/>
            <c:invertIfNegative val="0"/>
            <c:bubble3D val="0"/>
            <c:spPr>
              <a:solidFill>
                <a:srgbClr val="B32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B6F-445B-8CAB-EE61A6312F0B}"/>
              </c:ext>
            </c:extLst>
          </c:dPt>
          <c:dPt>
            <c:idx val="3"/>
            <c:invertIfNegative val="0"/>
            <c:bubble3D val="0"/>
            <c:spPr>
              <a:solidFill>
                <a:srgbClr val="B32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B6F-445B-8CAB-EE61A6312F0B}"/>
              </c:ext>
            </c:extLst>
          </c:dPt>
          <c:dPt>
            <c:idx val="4"/>
            <c:invertIfNegative val="0"/>
            <c:bubble3D val="0"/>
            <c:spPr>
              <a:solidFill>
                <a:srgbClr val="B32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B6F-445B-8CAB-EE61A6312F0B}"/>
              </c:ext>
            </c:extLst>
          </c:dPt>
          <c:dPt>
            <c:idx val="5"/>
            <c:invertIfNegative val="0"/>
            <c:bubble3D val="0"/>
            <c:spPr>
              <a:solidFill>
                <a:srgbClr val="5F6B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B6F-445B-8CAB-EE61A6312F0B}"/>
              </c:ext>
            </c:extLst>
          </c:dPt>
          <c:dPt>
            <c:idx val="6"/>
            <c:invertIfNegative val="0"/>
            <c:bubble3D val="0"/>
            <c:spPr>
              <a:solidFill>
                <a:srgbClr val="B32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B6F-445B-8CAB-EE61A6312F0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thal</c:v>
                </c:pt>
                <c:pt idx="1">
                  <c:v>ca</c:v>
                </c:pt>
                <c:pt idx="2">
                  <c:v>cp</c:v>
                </c:pt>
                <c:pt idx="3">
                  <c:v>exang</c:v>
                </c:pt>
                <c:pt idx="4">
                  <c:v>oldpeak</c:v>
                </c:pt>
                <c:pt idx="5">
                  <c:v>thalach</c:v>
                </c:pt>
                <c:pt idx="6">
                  <c:v>slope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0.52</c:v>
                </c:pt>
                <c:pt idx="1">
                  <c:v>0.45</c:v>
                </c:pt>
                <c:pt idx="2">
                  <c:v>0.42</c:v>
                </c:pt>
                <c:pt idx="3">
                  <c:v>0.42</c:v>
                </c:pt>
                <c:pt idx="4">
                  <c:v>0.42</c:v>
                </c:pt>
                <c:pt idx="5">
                  <c:v>-0.42</c:v>
                </c:pt>
                <c:pt idx="6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B6F-445B-8CAB-EE61A6312F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-0.6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270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heart_disease_anlaysis.ipynb. Dataset: Heart_disease_statlog.csv, 270 patients, 13 features, target 1 = disease (about 44%). Preprocessing: StandardScaler on age, trestbps, chol, thalach, oldpeak; OneHotEncoder on sex, cp, fbs, restecg, exang, slope, ca, thal. 80/20 split, random_state=42. Manual KNN (k=5, weights='distance') on the 54-patient test set: accuracy 0.907, confusion matrix [[32,1],[4,17]], disease recall 0.81, precision 0.94. GridSearchCV (k=1..13, F1 with pos_label=0) picked k=9 with CV F1 0.86; the manual k=5 model was saved. Correlation bar values are read from the notebook's plot, so treat them as approximate.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KNN flags heart disease with 91% accuracy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Heart_disease_statlog.csv  ·  270 patients  ·  13 clinical features</a:t>
            </a:r>
            <a:endParaRPr lang="en-US" sz="1600" dirty="0"/>
          </a:p>
        </p:txBody>
      </p:sp>
      <p:sp>
        <p:nvSpPr>
          <p:cNvPr id="4" name="Steps header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Steps taken</a:t>
            </a:r>
            <a:endParaRPr lang="en-US" sz="2000" dirty="0"/>
          </a:p>
        </p:txBody>
      </p:sp>
      <p:sp>
        <p:nvSpPr>
          <p:cNvPr id="5" name="Step 1 badge"/>
          <p:cNvSpPr/>
          <p:nvPr/>
        </p:nvSpPr>
        <p:spPr>
          <a:xfrm>
            <a:off x="548640" y="2258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Step 1 number"/>
          <p:cNvSpPr txBox="1"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1 title"/>
          <p:cNvSpPr txBox="1"/>
          <p:nvPr/>
        </p:nvSpPr>
        <p:spPr>
          <a:xfrm>
            <a:off x="1234440" y="2240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 and inspect</a:t>
            </a:r>
            <a:endParaRPr lang="en-US" sz="1600" dirty="0"/>
          </a:p>
        </p:txBody>
      </p:sp>
      <p:sp>
        <p:nvSpPr>
          <p:cNvPr id="8" name="Step 1 detail"/>
          <p:cNvSpPr txBox="1"/>
          <p:nvPr/>
        </p:nvSpPr>
        <p:spPr>
          <a:xfrm>
            <a:off x="1234440" y="2514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270 rows, 13 features, no missing values; ranges checked with describe()</a:t>
            </a:r>
            <a:endParaRPr lang="en-US" sz="1400" dirty="0"/>
          </a:p>
        </p:txBody>
      </p:sp>
      <p:sp>
        <p:nvSpPr>
          <p:cNvPr id="9" name="Step 2 badge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Step 2 number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2 title"/>
          <p:cNvSpPr txBox="1"/>
          <p:nvPr/>
        </p:nvSpPr>
        <p:spPr>
          <a:xfrm>
            <a:off x="1234440" y="30449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Explore</a:t>
            </a:r>
            <a:endParaRPr lang="en-US" sz="1600" dirty="0"/>
          </a:p>
        </p:txBody>
      </p:sp>
      <p:sp>
        <p:nvSpPr>
          <p:cNvPr id="12" name="Step 2 detail"/>
          <p:cNvSpPr txBox="1"/>
          <p:nvPr/>
        </p:nvSpPr>
        <p:spPr>
          <a:xfrm>
            <a:off x="1234440" y="33192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56/44 healthy/disease split is mild, so no oversampling; distributions and correlations plotted</a:t>
            </a:r>
            <a:endParaRPr lang="en-US" sz="1400" dirty="0"/>
          </a:p>
        </p:txBody>
      </p:sp>
      <p:sp>
        <p:nvSpPr>
          <p:cNvPr id="13" name="Step 3 badge"/>
          <p:cNvSpPr/>
          <p:nvPr/>
        </p:nvSpPr>
        <p:spPr>
          <a:xfrm>
            <a:off x="548640" y="38679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Step 3 number"/>
          <p:cNvSpPr txBox="1"/>
          <p:nvPr/>
        </p:nvSpPr>
        <p:spPr>
          <a:xfrm>
            <a:off x="5486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tep 3 title"/>
          <p:cNvSpPr txBox="1"/>
          <p:nvPr/>
        </p:nvSpPr>
        <p:spPr>
          <a:xfrm>
            <a:off x="1234440" y="38496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Preprocess and split</a:t>
            </a:r>
            <a:endParaRPr lang="en-US" sz="1600" dirty="0"/>
          </a:p>
        </p:txBody>
      </p:sp>
      <p:sp>
        <p:nvSpPr>
          <p:cNvPr id="16" name="Step 3 detail"/>
          <p:cNvSpPr txBox="1"/>
          <p:nvPr/>
        </p:nvSpPr>
        <p:spPr>
          <a:xfrm>
            <a:off x="1234440" y="41239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Scale 5 numeric columns, one-hot encode 8 categorical (28 features); 80/20 split</a:t>
            </a:r>
            <a:endParaRPr lang="en-US" sz="1400" dirty="0"/>
          </a:p>
        </p:txBody>
      </p:sp>
      <p:sp>
        <p:nvSpPr>
          <p:cNvPr id="17" name="Step 4 badge"/>
          <p:cNvSpPr/>
          <p:nvPr/>
        </p:nvSpPr>
        <p:spPr>
          <a:xfrm>
            <a:off x="548640" y="46725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Step 4 number"/>
          <p:cNvSpPr txBox="1"/>
          <p:nvPr/>
        </p:nvSpPr>
        <p:spPr>
          <a:xfrm>
            <a:off x="5486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tep 4 title"/>
          <p:cNvSpPr txBox="1"/>
          <p:nvPr/>
        </p:nvSpPr>
        <p:spPr>
          <a:xfrm>
            <a:off x="1234440" y="46542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 KNN</a:t>
            </a:r>
            <a:endParaRPr lang="en-US" sz="1600" dirty="0"/>
          </a:p>
        </p:txBody>
      </p:sp>
      <p:sp>
        <p:nvSpPr>
          <p:cNvPr id="20" name="Step 4 detail"/>
          <p:cNvSpPr txBox="1"/>
          <p:nvPr/>
        </p:nvSpPr>
        <p:spPr>
          <a:xfrm>
            <a:off x="1234440" y="49286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k = 5, distance-weighted neighbours, scored on 54 held-out patients</a:t>
            </a:r>
            <a:endParaRPr lang="en-US" sz="1400" dirty="0"/>
          </a:p>
        </p:txBody>
      </p:sp>
      <p:sp>
        <p:nvSpPr>
          <p:cNvPr id="21" name="Step 5 badge"/>
          <p:cNvSpPr/>
          <p:nvPr/>
        </p:nvSpPr>
        <p:spPr>
          <a:xfrm>
            <a:off x="548640" y="54772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Step 5 number"/>
          <p:cNvSpPr txBox="1"/>
          <p:nvPr/>
        </p:nvSpPr>
        <p:spPr>
          <a:xfrm>
            <a:off x="54864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Step 5 title"/>
          <p:cNvSpPr txBox="1"/>
          <p:nvPr/>
        </p:nvSpPr>
        <p:spPr>
          <a:xfrm>
            <a:off x="1234440" y="5458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Tune and save</a:t>
            </a:r>
            <a:endParaRPr lang="en-US" sz="1600" dirty="0"/>
          </a:p>
        </p:txBody>
      </p:sp>
      <p:sp>
        <p:nvSpPr>
          <p:cNvPr id="24" name="Step 5 detail"/>
          <p:cNvSpPr txBox="1"/>
          <p:nvPr/>
        </p:nvSpPr>
        <p:spPr>
          <a:xfrm>
            <a:off x="1234440" y="5733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GridSearchCV over k = 1–13 chose k = 9 (CV F1 0.86); kept manual k = 5 and saved with joblib</a:t>
            </a:r>
            <a:endParaRPr lang="en-US" sz="1400" dirty="0"/>
          </a:p>
        </p:txBody>
      </p:sp>
      <p:sp>
        <p:nvSpPr>
          <p:cNvPr id="25" name="Insights card"/>
          <p:cNvSpPr/>
          <p:nvPr/>
        </p:nvSpPr>
        <p:spPr>
          <a:xfrm>
            <a:off x="6400800" y="1691640"/>
            <a:ext cx="5239512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6" name="Insights header"/>
          <p:cNvSpPr txBox="1"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the data showed</a:t>
            </a:r>
            <a:endParaRPr lang="en-US" sz="2000" dirty="0"/>
          </a:p>
        </p:txBody>
      </p:sp>
      <p:sp>
        <p:nvSpPr>
          <p:cNvPr id="27" name="Chart caption"/>
          <p:cNvSpPr txBox="1"/>
          <p:nvPr/>
        </p:nvSpPr>
        <p:spPr>
          <a:xfrm>
            <a:off x="6675120" y="22128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Correlation with heart disease</a:t>
            </a:r>
            <a:endParaRPr lang="en-US" sz="12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6583680" y="2487168"/>
          <a:ext cx="48920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tat 1 card"/>
          <p:cNvSpPr/>
          <p:nvPr/>
        </p:nvSpPr>
        <p:spPr>
          <a:xfrm>
            <a:off x="6675120" y="4617720"/>
            <a:ext cx="153619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0" name="Stat 1 value"/>
          <p:cNvSpPr txBox="1"/>
          <p:nvPr/>
        </p:nvSpPr>
        <p:spPr>
          <a:xfrm>
            <a:off x="6675120" y="4672584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91%</a:t>
            </a:r>
            <a:endParaRPr lang="en-US" sz="2600" dirty="0"/>
          </a:p>
        </p:txBody>
      </p:sp>
      <p:sp>
        <p:nvSpPr>
          <p:cNvPr id="31" name="Stat 1 label"/>
          <p:cNvSpPr txBox="1"/>
          <p:nvPr/>
        </p:nvSpPr>
        <p:spPr>
          <a:xfrm>
            <a:off x="6675120" y="5148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test accuracy</a:t>
            </a:r>
            <a:endParaRPr lang="en-US" sz="1200" dirty="0"/>
          </a:p>
        </p:txBody>
      </p:sp>
      <p:sp>
        <p:nvSpPr>
          <p:cNvPr id="32" name="Stat 2 card"/>
          <p:cNvSpPr/>
          <p:nvPr/>
        </p:nvSpPr>
        <p:spPr>
          <a:xfrm>
            <a:off x="8343900" y="4617720"/>
            <a:ext cx="153619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3" name="Stat 2 value"/>
          <p:cNvSpPr txBox="1"/>
          <p:nvPr/>
        </p:nvSpPr>
        <p:spPr>
          <a:xfrm>
            <a:off x="8343900" y="4672584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0.81</a:t>
            </a:r>
            <a:endParaRPr lang="en-US" sz="2600" dirty="0"/>
          </a:p>
        </p:txBody>
      </p:sp>
      <p:sp>
        <p:nvSpPr>
          <p:cNvPr id="34" name="Stat 2 label"/>
          <p:cNvSpPr txBox="1"/>
          <p:nvPr/>
        </p:nvSpPr>
        <p:spPr>
          <a:xfrm>
            <a:off x="8343900" y="5148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recall on disease</a:t>
            </a:r>
            <a:endParaRPr lang="en-US" sz="1200" dirty="0"/>
          </a:p>
        </p:txBody>
      </p:sp>
      <p:sp>
        <p:nvSpPr>
          <p:cNvPr id="35" name="Stat 3 card"/>
          <p:cNvSpPr/>
          <p:nvPr/>
        </p:nvSpPr>
        <p:spPr>
          <a:xfrm>
            <a:off x="10012680" y="4617720"/>
            <a:ext cx="153619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6" name="Stat 3 value"/>
          <p:cNvSpPr txBox="1"/>
          <p:nvPr/>
        </p:nvSpPr>
        <p:spPr>
          <a:xfrm>
            <a:off x="10012680" y="4672584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 of 21</a:t>
            </a:r>
            <a:endParaRPr lang="en-US" sz="2600" dirty="0"/>
          </a:p>
        </p:txBody>
      </p:sp>
      <p:sp>
        <p:nvSpPr>
          <p:cNvPr id="37" name="Stat 3 label"/>
          <p:cNvSpPr txBox="1"/>
          <p:nvPr/>
        </p:nvSpPr>
        <p:spPr>
          <a:xfrm>
            <a:off x="10012680" y="5148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disease cases missed</a:t>
            </a:r>
            <a:endParaRPr lang="en-US" sz="1200" dirty="0"/>
          </a:p>
        </p:txBody>
      </p:sp>
      <p:sp>
        <p:nvSpPr>
          <p:cNvPr id="38" name="Takeaway"/>
          <p:cNvSpPr txBox="1"/>
          <p:nvPr/>
        </p:nvSpPr>
        <p:spPr>
          <a:xfrm>
            <a:off x="6675120" y="5577840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Takeaway: </a:t>
            </a:r>
            <a:r>
              <a:rPr lang="en-US" sz="1400" dirty="0">
                <a:solidFill>
                  <a:schemeClr val="tx1"/>
                </a:solidFill>
              </a:rPr>
              <a:t>thal, ca and chest pain drive the signal. Missed disease cases cost more than false alarms..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rt Notebook">
  <a:themeElements>
    <a:clrScheme name="Heart Notebook">
      <a:dk1>
        <a:srgbClr val="1F2933"/>
      </a:dk1>
      <a:lt1>
        <a:srgbClr val="FFFFFF"/>
      </a:lt1>
      <a:dk2>
        <a:srgbClr val="7A1424"/>
      </a:dk2>
      <a:lt2>
        <a:srgbClr val="FBEFF0"/>
      </a:lt2>
      <a:accent1>
        <a:srgbClr val="B3203A"/>
      </a:accent1>
      <a:accent2>
        <a:srgbClr val="5F6B76"/>
      </a:accent2>
      <a:accent3>
        <a:srgbClr val="E8A0AB"/>
      </a:accent3>
      <a:accent4>
        <a:srgbClr val="2F7D6D"/>
      </a:accent4>
      <a:accent5>
        <a:srgbClr val="C98B2B"/>
      </a:accent5>
      <a:accent6>
        <a:srgbClr val="8A94A0"/>
      </a:accent6>
      <a:hlink>
        <a:srgbClr val="B3203A"/>
      </a:hlink>
      <a:folHlink>
        <a:srgbClr val="5F6B76"/>
      </a:folHlink>
    </a:clrScheme>
    <a:fontScheme name="Heart Notebo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Heart Notebook</vt:lpstr>
      <vt:lpstr>KNN flags heart disease with 91% accuracy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notebook: steps and insights</dc:title>
  <dc:subject>PptxGenJS Presentation</dc:subject>
  <dc:creator>PptxGenJS</dc:creator>
  <cp:lastModifiedBy>Royyan Bello</cp:lastModifiedBy>
  <cp:revision>2</cp:revision>
  <dcterms:created xsi:type="dcterms:W3CDTF">2026-10-07T11:30:03Z</dcterms:created>
  <dcterms:modified xsi:type="dcterms:W3CDTF">2026-10-07T11:33:35Z</dcterms:modified>
</cp:coreProperties>
</file>